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Glacial Indifference Bold" charset="1" panose="00000800000000000000"/>
      <p:regular r:id="rId15"/>
    </p:embeddedFont>
    <p:embeddedFont>
      <p:font typeface="Futura" charset="1" panose="020B0502020204020303"/>
      <p:regular r:id="rId16"/>
    </p:embeddedFont>
    <p:embeddedFont>
      <p:font typeface="Glacial Indifference" charset="1" panose="00000000000000000000"/>
      <p:regular r:id="rId17"/>
    </p:embeddedFont>
    <p:embeddedFont>
      <p:font typeface="Open Sauce" charset="1" panose="00000500000000000000"/>
      <p:regular r:id="rId18"/>
    </p:embeddedFont>
    <p:embeddedFont>
      <p:font typeface="Nunito" charset="1" panose="00000500000000000000"/>
      <p:regular r:id="rId19"/>
    </p:embeddedFont>
    <p:embeddedFont>
      <p:font typeface="Glacial Indifference Bold Italics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2370" y="792370"/>
            <a:ext cx="472661" cy="47266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7364075" y="6915141"/>
            <a:ext cx="0" cy="2610617"/>
          </a:xfrm>
          <a:prstGeom prst="line">
            <a:avLst/>
          </a:prstGeom>
          <a:ln cap="flat" w="123825">
            <a:solidFill>
              <a:srgbClr val="BBC8B1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756206" y="-514350"/>
            <a:ext cx="6163724" cy="3086100"/>
            <a:chOff x="0" y="0"/>
            <a:chExt cx="1623368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23368" cy="812800"/>
            </a:xfrm>
            <a:custGeom>
              <a:avLst/>
              <a:gdLst/>
              <a:ahLst/>
              <a:cxnLst/>
              <a:rect r="r" b="b" t="t" l="l"/>
              <a:pathLst>
                <a:path h="812800" w="1623368">
                  <a:moveTo>
                    <a:pt x="0" y="0"/>
                  </a:moveTo>
                  <a:lnTo>
                    <a:pt x="1623368" y="0"/>
                  </a:lnTo>
                  <a:lnTo>
                    <a:pt x="162336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23368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2582136" y="8362283"/>
            <a:ext cx="7059741" cy="3086100"/>
            <a:chOff x="0" y="0"/>
            <a:chExt cx="1859356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59356" cy="812800"/>
            </a:xfrm>
            <a:custGeom>
              <a:avLst/>
              <a:gdLst/>
              <a:ahLst/>
              <a:cxnLst/>
              <a:rect r="r" b="b" t="t" l="l"/>
              <a:pathLst>
                <a:path h="812800" w="1859356">
                  <a:moveTo>
                    <a:pt x="0" y="0"/>
                  </a:moveTo>
                  <a:lnTo>
                    <a:pt x="1859356" y="0"/>
                  </a:lnTo>
                  <a:lnTo>
                    <a:pt x="18593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59356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76371" y="2092742"/>
            <a:ext cx="14744962" cy="4566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79"/>
              </a:lnSpc>
            </a:pPr>
            <a:r>
              <a:rPr lang="en-US" b="true" sz="10508">
                <a:solidFill>
                  <a:srgbClr val="1C152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REMATCH: </a:t>
            </a:r>
          </a:p>
          <a:p>
            <a:pPr algn="ctr" marL="0" indent="0" lvl="0">
              <a:lnSpc>
                <a:spcPts val="11979"/>
              </a:lnSpc>
            </a:pPr>
            <a:r>
              <a:rPr lang="en-US" b="true" sz="10508">
                <a:solidFill>
                  <a:srgbClr val="1C152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RESUME PARSING &amp; RANKING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1519" y="6781791"/>
            <a:ext cx="14744962" cy="65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64"/>
              </a:lnSpc>
            </a:pPr>
            <a:r>
              <a:rPr lang="en-US" sz="3474">
                <a:solidFill>
                  <a:srgbClr val="1C1526"/>
                </a:solidFill>
                <a:latin typeface="Futura"/>
                <a:ea typeface="Futura"/>
                <a:cs typeface="Futura"/>
                <a:sym typeface="Futura"/>
              </a:rPr>
              <a:t>TEAM 11 : COMMIT OR CRY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12617"/>
            <a:ext cx="16060531" cy="8445683"/>
            <a:chOff x="0" y="0"/>
            <a:chExt cx="4229934" cy="22243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29934" cy="2224377"/>
            </a:xfrm>
            <a:custGeom>
              <a:avLst/>
              <a:gdLst/>
              <a:ahLst/>
              <a:cxnLst/>
              <a:rect r="r" b="b" t="t" l="l"/>
              <a:pathLst>
                <a:path h="2224377" w="4229934">
                  <a:moveTo>
                    <a:pt x="48205" y="0"/>
                  </a:moveTo>
                  <a:lnTo>
                    <a:pt x="4181729" y="0"/>
                  </a:lnTo>
                  <a:cubicBezTo>
                    <a:pt x="4208352" y="0"/>
                    <a:pt x="4229934" y="21582"/>
                    <a:pt x="4229934" y="48205"/>
                  </a:cubicBezTo>
                  <a:lnTo>
                    <a:pt x="4229934" y="2176173"/>
                  </a:lnTo>
                  <a:cubicBezTo>
                    <a:pt x="4229934" y="2202795"/>
                    <a:pt x="4208352" y="2224377"/>
                    <a:pt x="4181729" y="2224377"/>
                  </a:cubicBezTo>
                  <a:lnTo>
                    <a:pt x="48205" y="2224377"/>
                  </a:lnTo>
                  <a:cubicBezTo>
                    <a:pt x="21582" y="2224377"/>
                    <a:pt x="0" y="2202795"/>
                    <a:pt x="0" y="2176173"/>
                  </a:cubicBezTo>
                  <a:lnTo>
                    <a:pt x="0" y="48205"/>
                  </a:lnTo>
                  <a:cubicBezTo>
                    <a:pt x="0" y="21582"/>
                    <a:pt x="21582" y="0"/>
                    <a:pt x="48205" y="0"/>
                  </a:cubicBez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229934" cy="2272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22768" y="1545380"/>
            <a:ext cx="10038138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9"/>
              </a:lnSpc>
              <a:spcBef>
                <a:spcPct val="0"/>
              </a:spcBef>
            </a:pPr>
            <a:r>
              <a:rPr lang="en-US" b="true" sz="78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11056" y="4234821"/>
            <a:ext cx="13078586" cy="350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7"/>
              </a:lnSpc>
              <a:spcBef>
                <a:spcPct val="0"/>
              </a:spcBef>
            </a:pPr>
            <a:r>
              <a:rPr lang="en-US" sz="3997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Manual screening → 70% qualified resumes overlooked</a:t>
            </a:r>
          </a:p>
          <a:p>
            <a:pPr algn="l">
              <a:lnSpc>
                <a:spcPts val="5597"/>
              </a:lnSpc>
              <a:spcBef>
                <a:spcPct val="0"/>
              </a:spcBef>
            </a:pPr>
            <a:r>
              <a:rPr lang="en-US" sz="3997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60% candidates misalign resumes to roles → lower callback rates</a:t>
            </a:r>
          </a:p>
          <a:p>
            <a:pPr algn="l">
              <a:lnSpc>
                <a:spcPts val="5597"/>
              </a:lnSpc>
              <a:spcBef>
                <a:spcPct val="0"/>
              </a:spcBef>
            </a:pPr>
            <a:r>
              <a:rPr lang="en-US" sz="3997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High-volume hiring causes a tradeoff between quality &amp; speed to hire.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166399" y="3491019"/>
            <a:ext cx="5026555" cy="5026555"/>
            <a:chOff x="0" y="0"/>
            <a:chExt cx="4489857" cy="44898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30723" y="3491019"/>
            <a:ext cx="5026555" cy="5026555"/>
            <a:chOff x="0" y="0"/>
            <a:chExt cx="4489857" cy="44898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095047" y="3491019"/>
            <a:ext cx="5026555" cy="5026555"/>
            <a:chOff x="0" y="0"/>
            <a:chExt cx="4489857" cy="44898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567267" y="4318533"/>
            <a:ext cx="1153465" cy="1215337"/>
          </a:xfrm>
          <a:custGeom>
            <a:avLst/>
            <a:gdLst/>
            <a:ahLst/>
            <a:cxnLst/>
            <a:rect r="r" b="b" t="t" l="l"/>
            <a:pathLst>
              <a:path h="1215337" w="1153465">
                <a:moveTo>
                  <a:pt x="0" y="0"/>
                </a:moveTo>
                <a:lnTo>
                  <a:pt x="1153466" y="0"/>
                </a:lnTo>
                <a:lnTo>
                  <a:pt x="1153466" y="1215337"/>
                </a:lnTo>
                <a:lnTo>
                  <a:pt x="0" y="1215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029002" y="4318533"/>
            <a:ext cx="1367361" cy="1367361"/>
          </a:xfrm>
          <a:custGeom>
            <a:avLst/>
            <a:gdLst/>
            <a:ahLst/>
            <a:cxnLst/>
            <a:rect r="r" b="b" t="t" l="l"/>
            <a:pathLst>
              <a:path h="1367361" w="1367361">
                <a:moveTo>
                  <a:pt x="0" y="0"/>
                </a:moveTo>
                <a:lnTo>
                  <a:pt x="1367361" y="0"/>
                </a:lnTo>
                <a:lnTo>
                  <a:pt x="1367361" y="1367361"/>
                </a:lnTo>
                <a:lnTo>
                  <a:pt x="0" y="13673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900116" y="4318533"/>
            <a:ext cx="1559121" cy="1249771"/>
          </a:xfrm>
          <a:custGeom>
            <a:avLst/>
            <a:gdLst/>
            <a:ahLst/>
            <a:cxnLst/>
            <a:rect r="r" b="b" t="t" l="l"/>
            <a:pathLst>
              <a:path h="1249771" w="1559121">
                <a:moveTo>
                  <a:pt x="0" y="0"/>
                </a:moveTo>
                <a:lnTo>
                  <a:pt x="1559120" y="0"/>
                </a:lnTo>
                <a:lnTo>
                  <a:pt x="1559120" y="1249771"/>
                </a:lnTo>
                <a:lnTo>
                  <a:pt x="0" y="12497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41259" y="6023295"/>
            <a:ext cx="4276833" cy="143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Download ranked shortlist as CSV or plain‑text for easy ATS integration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05583" y="6023295"/>
            <a:ext cx="4270326" cy="191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Perf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ormance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ics: 1900ms parsing l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atency per resume;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95%+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accuracy 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100 resume test set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69907" y="6023295"/>
            <a:ext cx="4276833" cy="143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Recruiter View :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Ranked shortlist + drill‑do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wn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esume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insights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7530" y="1449582"/>
            <a:ext cx="4985424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9"/>
              </a:lnSpc>
              <a:spcBef>
                <a:spcPct val="0"/>
              </a:spcBef>
            </a:pPr>
            <a:r>
              <a:rPr lang="en-US" b="true" sz="78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SOLUTION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944" y="3688230"/>
            <a:ext cx="15642356" cy="5400002"/>
            <a:chOff x="0" y="0"/>
            <a:chExt cx="4119798" cy="14222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19798" cy="1422223"/>
            </a:xfrm>
            <a:custGeom>
              <a:avLst/>
              <a:gdLst/>
              <a:ahLst/>
              <a:cxnLst/>
              <a:rect r="r" b="b" t="t" l="l"/>
              <a:pathLst>
                <a:path h="1422223" w="4119798">
                  <a:moveTo>
                    <a:pt x="49493" y="0"/>
                  </a:moveTo>
                  <a:lnTo>
                    <a:pt x="4070304" y="0"/>
                  </a:lnTo>
                  <a:cubicBezTo>
                    <a:pt x="4097639" y="0"/>
                    <a:pt x="4119798" y="22159"/>
                    <a:pt x="4119798" y="49493"/>
                  </a:cubicBezTo>
                  <a:lnTo>
                    <a:pt x="4119798" y="1372729"/>
                  </a:lnTo>
                  <a:cubicBezTo>
                    <a:pt x="4119798" y="1400064"/>
                    <a:pt x="4097639" y="1422223"/>
                    <a:pt x="4070304" y="1422223"/>
                  </a:cubicBezTo>
                  <a:lnTo>
                    <a:pt x="49493" y="1422223"/>
                  </a:lnTo>
                  <a:cubicBezTo>
                    <a:pt x="22159" y="1422223"/>
                    <a:pt x="0" y="1400064"/>
                    <a:pt x="0" y="1372729"/>
                  </a:cubicBezTo>
                  <a:lnTo>
                    <a:pt x="0" y="49493"/>
                  </a:lnTo>
                  <a:cubicBezTo>
                    <a:pt x="0" y="22159"/>
                    <a:pt x="22159" y="0"/>
                    <a:pt x="49493" y="0"/>
                  </a:cubicBez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19798" cy="1469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16944" y="1427411"/>
            <a:ext cx="9501188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9"/>
              </a:lnSpc>
              <a:spcBef>
                <a:spcPct val="0"/>
              </a:spcBef>
            </a:pPr>
            <a:r>
              <a:rPr lang="en-US" b="true" sz="78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VALUE PROPOSITION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55347" y="4591287"/>
            <a:ext cx="13303375" cy="350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Achieving 95% parsing accuracy significantly enhances data reliability and decision-making compared to the 70% industry average. Leveraging a proprietary corpus and real-time scoring not only optimizes performance but also provides a competitive edge by ensuring timely and precise insights.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795" y="2557248"/>
            <a:ext cx="16732410" cy="6701052"/>
            <a:chOff x="0" y="0"/>
            <a:chExt cx="4406890" cy="17648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06890" cy="1764886"/>
            </a:xfrm>
            <a:custGeom>
              <a:avLst/>
              <a:gdLst/>
              <a:ahLst/>
              <a:cxnLst/>
              <a:rect r="r" b="b" t="t" l="l"/>
              <a:pathLst>
                <a:path h="1764886" w="4406890">
                  <a:moveTo>
                    <a:pt x="23597" y="0"/>
                  </a:moveTo>
                  <a:lnTo>
                    <a:pt x="4383293" y="0"/>
                  </a:lnTo>
                  <a:cubicBezTo>
                    <a:pt x="4396325" y="0"/>
                    <a:pt x="4406890" y="10565"/>
                    <a:pt x="4406890" y="23597"/>
                  </a:cubicBezTo>
                  <a:lnTo>
                    <a:pt x="4406890" y="1741289"/>
                  </a:lnTo>
                  <a:cubicBezTo>
                    <a:pt x="4406890" y="1747547"/>
                    <a:pt x="4404404" y="1753550"/>
                    <a:pt x="4399978" y="1757975"/>
                  </a:cubicBezTo>
                  <a:cubicBezTo>
                    <a:pt x="4395553" y="1762400"/>
                    <a:pt x="4389551" y="1764886"/>
                    <a:pt x="4383293" y="1764886"/>
                  </a:cubicBezTo>
                  <a:lnTo>
                    <a:pt x="23597" y="1764886"/>
                  </a:lnTo>
                  <a:cubicBezTo>
                    <a:pt x="17339" y="1764886"/>
                    <a:pt x="11337" y="1762400"/>
                    <a:pt x="6911" y="1757975"/>
                  </a:cubicBezTo>
                  <a:cubicBezTo>
                    <a:pt x="2486" y="1753550"/>
                    <a:pt x="0" y="1747547"/>
                    <a:pt x="0" y="1741289"/>
                  </a:cubicBezTo>
                  <a:lnTo>
                    <a:pt x="0" y="23597"/>
                  </a:lnTo>
                  <a:cubicBezTo>
                    <a:pt x="0" y="17339"/>
                    <a:pt x="2486" y="11337"/>
                    <a:pt x="6911" y="6911"/>
                  </a:cubicBezTo>
                  <a:cubicBezTo>
                    <a:pt x="11337" y="2486"/>
                    <a:pt x="17339" y="0"/>
                    <a:pt x="23597" y="0"/>
                  </a:cubicBez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06890" cy="1802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46549" y="747114"/>
            <a:ext cx="14994902" cy="3194844"/>
            <a:chOff x="0" y="0"/>
            <a:chExt cx="3949275" cy="841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49275" cy="841440"/>
            </a:xfrm>
            <a:custGeom>
              <a:avLst/>
              <a:gdLst/>
              <a:ahLst/>
              <a:cxnLst/>
              <a:rect r="r" b="b" t="t" l="l"/>
              <a:pathLst>
                <a:path h="841440" w="3949275">
                  <a:moveTo>
                    <a:pt x="26331" y="0"/>
                  </a:moveTo>
                  <a:lnTo>
                    <a:pt x="3922943" y="0"/>
                  </a:lnTo>
                  <a:cubicBezTo>
                    <a:pt x="3937486" y="0"/>
                    <a:pt x="3949275" y="11789"/>
                    <a:pt x="3949275" y="26331"/>
                  </a:cubicBezTo>
                  <a:lnTo>
                    <a:pt x="3949275" y="815109"/>
                  </a:lnTo>
                  <a:cubicBezTo>
                    <a:pt x="3949275" y="829651"/>
                    <a:pt x="3937486" y="841440"/>
                    <a:pt x="3922943" y="841440"/>
                  </a:cubicBezTo>
                  <a:lnTo>
                    <a:pt x="26331" y="841440"/>
                  </a:lnTo>
                  <a:cubicBezTo>
                    <a:pt x="11789" y="841440"/>
                    <a:pt x="0" y="829651"/>
                    <a:pt x="0" y="815109"/>
                  </a:cubicBezTo>
                  <a:lnTo>
                    <a:pt x="0" y="26331"/>
                  </a:lnTo>
                  <a:cubicBezTo>
                    <a:pt x="0" y="11789"/>
                    <a:pt x="11789" y="0"/>
                    <a:pt x="26331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949275" cy="879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739130" y="910071"/>
            <a:ext cx="10809741" cy="271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9"/>
              </a:lnSpc>
            </a:pPr>
            <a:r>
              <a:rPr lang="en-US" b="true" sz="78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MARKET GROWTH AND POTENTIAL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444609" y="4421692"/>
            <a:ext cx="6216000" cy="4130707"/>
            <a:chOff x="0" y="0"/>
            <a:chExt cx="1637136" cy="10879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37136" cy="1087923"/>
            </a:xfrm>
            <a:custGeom>
              <a:avLst/>
              <a:gdLst/>
              <a:ahLst/>
              <a:cxnLst/>
              <a:rect r="r" b="b" t="t" l="l"/>
              <a:pathLst>
                <a:path h="1087923" w="1637136">
                  <a:moveTo>
                    <a:pt x="63520" y="0"/>
                  </a:moveTo>
                  <a:lnTo>
                    <a:pt x="1573616" y="0"/>
                  </a:lnTo>
                  <a:cubicBezTo>
                    <a:pt x="1590463" y="0"/>
                    <a:pt x="1606619" y="6692"/>
                    <a:pt x="1618531" y="18604"/>
                  </a:cubicBezTo>
                  <a:cubicBezTo>
                    <a:pt x="1630444" y="30517"/>
                    <a:pt x="1637136" y="46673"/>
                    <a:pt x="1637136" y="63520"/>
                  </a:cubicBezTo>
                  <a:lnTo>
                    <a:pt x="1637136" y="1024403"/>
                  </a:lnTo>
                  <a:cubicBezTo>
                    <a:pt x="1637136" y="1041250"/>
                    <a:pt x="1630444" y="1057406"/>
                    <a:pt x="1618531" y="1069318"/>
                  </a:cubicBezTo>
                  <a:cubicBezTo>
                    <a:pt x="1606619" y="1081231"/>
                    <a:pt x="1590463" y="1087923"/>
                    <a:pt x="1573616" y="1087923"/>
                  </a:cubicBezTo>
                  <a:lnTo>
                    <a:pt x="63520" y="1087923"/>
                  </a:lnTo>
                  <a:cubicBezTo>
                    <a:pt x="46673" y="1087923"/>
                    <a:pt x="30517" y="1081231"/>
                    <a:pt x="18604" y="1069318"/>
                  </a:cubicBezTo>
                  <a:cubicBezTo>
                    <a:pt x="6692" y="1057406"/>
                    <a:pt x="0" y="1041250"/>
                    <a:pt x="0" y="1024403"/>
                  </a:cubicBezTo>
                  <a:lnTo>
                    <a:pt x="0" y="63520"/>
                  </a:lnTo>
                  <a:cubicBezTo>
                    <a:pt x="0" y="46673"/>
                    <a:pt x="6692" y="30517"/>
                    <a:pt x="18604" y="18604"/>
                  </a:cubicBezTo>
                  <a:cubicBezTo>
                    <a:pt x="30517" y="6692"/>
                    <a:pt x="46673" y="0"/>
                    <a:pt x="635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37136" cy="1126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699582" y="4867668"/>
            <a:ext cx="5706055" cy="211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This growth indicates a robust demand for innovative solutions that streamline recruiting processes and improve efficiency.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30231" y="4421692"/>
            <a:ext cx="6216000" cy="4130707"/>
            <a:chOff x="0" y="0"/>
            <a:chExt cx="1637136" cy="10879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37136" cy="1087923"/>
            </a:xfrm>
            <a:custGeom>
              <a:avLst/>
              <a:gdLst/>
              <a:ahLst/>
              <a:cxnLst/>
              <a:rect r="r" b="b" t="t" l="l"/>
              <a:pathLst>
                <a:path h="1087923" w="1637136">
                  <a:moveTo>
                    <a:pt x="63520" y="0"/>
                  </a:moveTo>
                  <a:lnTo>
                    <a:pt x="1573616" y="0"/>
                  </a:lnTo>
                  <a:cubicBezTo>
                    <a:pt x="1590463" y="0"/>
                    <a:pt x="1606619" y="6692"/>
                    <a:pt x="1618531" y="18604"/>
                  </a:cubicBezTo>
                  <a:cubicBezTo>
                    <a:pt x="1630444" y="30517"/>
                    <a:pt x="1637136" y="46673"/>
                    <a:pt x="1637136" y="63520"/>
                  </a:cubicBezTo>
                  <a:lnTo>
                    <a:pt x="1637136" y="1024403"/>
                  </a:lnTo>
                  <a:cubicBezTo>
                    <a:pt x="1637136" y="1041250"/>
                    <a:pt x="1630444" y="1057406"/>
                    <a:pt x="1618531" y="1069318"/>
                  </a:cubicBezTo>
                  <a:cubicBezTo>
                    <a:pt x="1606619" y="1081231"/>
                    <a:pt x="1590463" y="1087923"/>
                    <a:pt x="1573616" y="1087923"/>
                  </a:cubicBezTo>
                  <a:lnTo>
                    <a:pt x="63520" y="1087923"/>
                  </a:lnTo>
                  <a:cubicBezTo>
                    <a:pt x="46673" y="1087923"/>
                    <a:pt x="30517" y="1081231"/>
                    <a:pt x="18604" y="1069318"/>
                  </a:cubicBezTo>
                  <a:cubicBezTo>
                    <a:pt x="6692" y="1057406"/>
                    <a:pt x="0" y="1041250"/>
                    <a:pt x="0" y="1024403"/>
                  </a:cubicBezTo>
                  <a:lnTo>
                    <a:pt x="0" y="63520"/>
                  </a:lnTo>
                  <a:cubicBezTo>
                    <a:pt x="0" y="46673"/>
                    <a:pt x="6692" y="30517"/>
                    <a:pt x="18604" y="18604"/>
                  </a:cubicBezTo>
                  <a:cubicBezTo>
                    <a:pt x="30517" y="6692"/>
                    <a:pt x="46673" y="0"/>
                    <a:pt x="635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637136" cy="1126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145340" y="4867668"/>
            <a:ext cx="5585781" cy="318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By implementing more efficient screening technologies, companies can significantly reduce this time and cost, allowing recruiting teams to focus on strategic initiatives.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795" y="2557248"/>
            <a:ext cx="16732410" cy="6076022"/>
            <a:chOff x="0" y="0"/>
            <a:chExt cx="4406890" cy="16002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06890" cy="1600269"/>
            </a:xfrm>
            <a:custGeom>
              <a:avLst/>
              <a:gdLst/>
              <a:ahLst/>
              <a:cxnLst/>
              <a:rect r="r" b="b" t="t" l="l"/>
              <a:pathLst>
                <a:path h="1600269" w="4406890">
                  <a:moveTo>
                    <a:pt x="23597" y="0"/>
                  </a:moveTo>
                  <a:lnTo>
                    <a:pt x="4383293" y="0"/>
                  </a:lnTo>
                  <a:cubicBezTo>
                    <a:pt x="4396325" y="0"/>
                    <a:pt x="4406890" y="10565"/>
                    <a:pt x="4406890" y="23597"/>
                  </a:cubicBezTo>
                  <a:lnTo>
                    <a:pt x="4406890" y="1576672"/>
                  </a:lnTo>
                  <a:cubicBezTo>
                    <a:pt x="4406890" y="1582930"/>
                    <a:pt x="4404404" y="1588932"/>
                    <a:pt x="4399978" y="1593358"/>
                  </a:cubicBezTo>
                  <a:cubicBezTo>
                    <a:pt x="4395553" y="1597783"/>
                    <a:pt x="4389551" y="1600269"/>
                    <a:pt x="4383293" y="1600269"/>
                  </a:cubicBezTo>
                  <a:lnTo>
                    <a:pt x="23597" y="1600269"/>
                  </a:lnTo>
                  <a:cubicBezTo>
                    <a:pt x="17339" y="1600269"/>
                    <a:pt x="11337" y="1597783"/>
                    <a:pt x="6911" y="1593358"/>
                  </a:cubicBezTo>
                  <a:cubicBezTo>
                    <a:pt x="2486" y="1588932"/>
                    <a:pt x="0" y="1582930"/>
                    <a:pt x="0" y="1576672"/>
                  </a:cubicBezTo>
                  <a:lnTo>
                    <a:pt x="0" y="23597"/>
                  </a:lnTo>
                  <a:cubicBezTo>
                    <a:pt x="0" y="17339"/>
                    <a:pt x="2486" y="11337"/>
                    <a:pt x="6911" y="6911"/>
                  </a:cubicBezTo>
                  <a:cubicBezTo>
                    <a:pt x="11337" y="2486"/>
                    <a:pt x="17339" y="0"/>
                    <a:pt x="23597" y="0"/>
                  </a:cubicBez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06890" cy="1638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95962" y="910071"/>
            <a:ext cx="14966388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9"/>
              </a:lnSpc>
            </a:pPr>
            <a:r>
              <a:rPr lang="en-US" b="true" sz="78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MARKETING STRATEGY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19593" y="3412677"/>
            <a:ext cx="13166338" cy="390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establish and strengthen partnerships with hackathons and college programs to enhance brand visibility, attract top talent, and foster innovation.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Launch targeted social media campaigns to engage students and promote partnerships.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Send hyper personalized emails to high growth startups &amp; offer them a 14 day pilot with no credit card.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29529" y="0"/>
            <a:ext cx="6308483" cy="10287000"/>
            <a:chOff x="0" y="0"/>
            <a:chExt cx="16614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149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61494">
                  <a:moveTo>
                    <a:pt x="0" y="0"/>
                  </a:moveTo>
                  <a:lnTo>
                    <a:pt x="1661494" y="0"/>
                  </a:lnTo>
                  <a:lnTo>
                    <a:pt x="16614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614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807273" y="9050754"/>
            <a:ext cx="586293" cy="483692"/>
          </a:xfrm>
          <a:custGeom>
            <a:avLst/>
            <a:gdLst/>
            <a:ahLst/>
            <a:cxnLst/>
            <a:rect r="r" b="b" t="t" l="l"/>
            <a:pathLst>
              <a:path h="483692" w="586293">
                <a:moveTo>
                  <a:pt x="0" y="0"/>
                </a:moveTo>
                <a:lnTo>
                  <a:pt x="586293" y="0"/>
                </a:lnTo>
                <a:lnTo>
                  <a:pt x="586293" y="483691"/>
                </a:lnTo>
                <a:lnTo>
                  <a:pt x="0" y="4836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54263" y="1133475"/>
            <a:ext cx="7158103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7500" b="true">
                <a:solidFill>
                  <a:srgbClr val="1C152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NOVELTY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54263" y="2827501"/>
            <a:ext cx="13904521" cy="5858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Our parsing technology extracts information from formats like PDF and DOCX while preserving the original layout.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Our ranking algorithm uses OpenAI's models to compare resumes with job descriptions, prioritizing candidates based on true fit rather than just keywords.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platform features a clean, intuitive interface that guides users through resume creation and optimization, making it accessible to all skill levels.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 ensure data security with encryption and privacy policies to protect candidates' information.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7512" y="1028700"/>
            <a:ext cx="4477296" cy="1094030"/>
            <a:chOff x="0" y="0"/>
            <a:chExt cx="1179205" cy="288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9205" cy="288140"/>
            </a:xfrm>
            <a:custGeom>
              <a:avLst/>
              <a:gdLst/>
              <a:ahLst/>
              <a:cxnLst/>
              <a:rect r="r" b="b" t="t" l="l"/>
              <a:pathLst>
                <a:path h="288140" w="1179205">
                  <a:moveTo>
                    <a:pt x="0" y="0"/>
                  </a:moveTo>
                  <a:lnTo>
                    <a:pt x="1179205" y="0"/>
                  </a:lnTo>
                  <a:lnTo>
                    <a:pt x="1179205" y="288140"/>
                  </a:lnTo>
                  <a:lnTo>
                    <a:pt x="0" y="288140"/>
                  </a:lnTo>
                  <a:close/>
                </a:path>
              </a:pathLst>
            </a:custGeom>
            <a:solidFill>
              <a:srgbClr val="BBC8B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179205" cy="354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72"/>
                </a:lnSpc>
              </a:pPr>
              <a:r>
                <a:rPr lang="en-US" b="true" sz="3051" i="true">
                  <a:solidFill>
                    <a:srgbClr val="000000"/>
                  </a:solidFill>
                  <a:latin typeface="Glacial Indifference Bold Italics"/>
                  <a:ea typeface="Glacial Indifference Bold Italics"/>
                  <a:cs typeface="Glacial Indifference Bold Italics"/>
                  <a:sym typeface="Glacial Indifference Bold Italics"/>
                </a:rPr>
                <a:t>F</a:t>
              </a:r>
              <a:r>
                <a:rPr lang="en-US" b="true" sz="3051" i="true">
                  <a:solidFill>
                    <a:srgbClr val="000000"/>
                  </a:solidFill>
                  <a:latin typeface="Glacial Indifference Bold Italics"/>
                  <a:ea typeface="Glacial Indifference Bold Italics"/>
                  <a:cs typeface="Glacial Indifference Bold Italics"/>
                  <a:sym typeface="Glacial Indifference Bold Italics"/>
                </a:rPr>
                <a:t>or Recruiters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47512" y="5052936"/>
            <a:ext cx="4477296" cy="1094030"/>
            <a:chOff x="0" y="0"/>
            <a:chExt cx="1179205" cy="288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9205" cy="288140"/>
            </a:xfrm>
            <a:custGeom>
              <a:avLst/>
              <a:gdLst/>
              <a:ahLst/>
              <a:cxnLst/>
              <a:rect r="r" b="b" t="t" l="l"/>
              <a:pathLst>
                <a:path h="288140" w="1179205">
                  <a:moveTo>
                    <a:pt x="0" y="0"/>
                  </a:moveTo>
                  <a:lnTo>
                    <a:pt x="1179205" y="0"/>
                  </a:lnTo>
                  <a:lnTo>
                    <a:pt x="1179205" y="288140"/>
                  </a:lnTo>
                  <a:lnTo>
                    <a:pt x="0" y="288140"/>
                  </a:lnTo>
                  <a:close/>
                </a:path>
              </a:pathLst>
            </a:custGeom>
            <a:solidFill>
              <a:srgbClr val="BBC8B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179205" cy="354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72"/>
                </a:lnSpc>
              </a:pPr>
              <a:r>
                <a:rPr lang="en-US" b="true" sz="3051" i="true">
                  <a:solidFill>
                    <a:srgbClr val="000000"/>
                  </a:solidFill>
                  <a:latin typeface="Glacial Indifference Bold Italics"/>
                  <a:ea typeface="Glacial Indifference Bold Italics"/>
                  <a:cs typeface="Glacial Indifference Bold Italics"/>
                  <a:sym typeface="Glacial Indifference Bold Italics"/>
                </a:rPr>
                <a:t>For Candidates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11624808" y="1575715"/>
            <a:ext cx="636116" cy="0"/>
          </a:xfrm>
          <a:prstGeom prst="line">
            <a:avLst/>
          </a:prstGeom>
          <a:ln cap="flat" w="38100">
            <a:solidFill>
              <a:srgbClr val="46573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>
            <a:off x="11624808" y="5619001"/>
            <a:ext cx="636116" cy="0"/>
          </a:xfrm>
          <a:prstGeom prst="line">
            <a:avLst/>
          </a:prstGeom>
          <a:ln cap="flat" w="38100">
            <a:solidFill>
              <a:srgbClr val="465739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563137" y="-247664"/>
            <a:ext cx="5692268" cy="11174045"/>
            <a:chOff x="0" y="0"/>
            <a:chExt cx="1499198" cy="29429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99198" cy="2942958"/>
            </a:xfrm>
            <a:custGeom>
              <a:avLst/>
              <a:gdLst/>
              <a:ahLst/>
              <a:cxnLst/>
              <a:rect r="r" b="b" t="t" l="l"/>
              <a:pathLst>
                <a:path h="2942958" w="1499198">
                  <a:moveTo>
                    <a:pt x="0" y="0"/>
                  </a:moveTo>
                  <a:lnTo>
                    <a:pt x="1499198" y="0"/>
                  </a:lnTo>
                  <a:lnTo>
                    <a:pt x="1499198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499198" cy="299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1134148"/>
            <a:ext cx="6118812" cy="3151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71"/>
              </a:lnSpc>
              <a:spcBef>
                <a:spcPct val="0"/>
              </a:spcBef>
            </a:pPr>
            <a:r>
              <a:rPr lang="en-US" b="true" sz="905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Revenue Model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60974" y="1027270"/>
            <a:ext cx="4768616" cy="372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 Plan</a:t>
            </a: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Enhanced features with AI-driven suggestions and an analytics dashboard.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Enterprise Plan</a:t>
            </a: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Custom integrations and dedicated support for larger organizations.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60974" y="5076825"/>
            <a:ext cx="4968774" cy="4258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Premium Candidate Features:</a:t>
            </a: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Receive tailored suggestions to enhance resume content, structure, and formatting.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Basic Package: ₹499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Standard Package: ₹1,499</a:t>
            </a:r>
          </a:p>
        </p:txBody>
      </p:sp>
      <p:grpSp>
        <p:nvGrpSpPr>
          <p:cNvPr name="Group 16" id="16"/>
          <p:cNvGrpSpPr/>
          <p:nvPr/>
        </p:nvGrpSpPr>
        <p:grpSpPr>
          <a:xfrm rot="-5400000">
            <a:off x="1028700" y="9163260"/>
            <a:ext cx="472661" cy="47266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00062"/>
            <a:ext cx="16230600" cy="8686875"/>
            <a:chOff x="0" y="0"/>
            <a:chExt cx="4274726" cy="22879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287901"/>
            </a:xfrm>
            <a:custGeom>
              <a:avLst/>
              <a:gdLst/>
              <a:ahLst/>
              <a:cxnLst/>
              <a:rect r="r" b="b" t="t" l="l"/>
              <a:pathLst>
                <a:path h="2287901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63574"/>
                  </a:lnTo>
                  <a:cubicBezTo>
                    <a:pt x="4274726" y="2270026"/>
                    <a:pt x="4272163" y="2276214"/>
                    <a:pt x="4267601" y="2280776"/>
                  </a:cubicBezTo>
                  <a:cubicBezTo>
                    <a:pt x="4263039" y="2285338"/>
                    <a:pt x="4256851" y="2287901"/>
                    <a:pt x="4250399" y="2287901"/>
                  </a:cubicBezTo>
                  <a:lnTo>
                    <a:pt x="24327" y="2287901"/>
                  </a:lnTo>
                  <a:cubicBezTo>
                    <a:pt x="10891" y="2287901"/>
                    <a:pt x="0" y="2277010"/>
                    <a:pt x="0" y="226357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DDED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260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43737" y="1238620"/>
            <a:ext cx="14600525" cy="271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9"/>
              </a:lnSpc>
              <a:spcBef>
                <a:spcPct val="0"/>
              </a:spcBef>
            </a:pPr>
            <a:r>
              <a:rPr lang="en-US" b="true" sz="78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TECHNOLOGY AND ARCHITECTURE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43737" y="4406740"/>
            <a:ext cx="13855345" cy="350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</a:t>
            </a:r>
            <a:r>
              <a:rPr lang="en-US" b="true" sz="39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MERN Stack</a:t>
            </a: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: React UI → Node/Express API → MongoDB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</a:t>
            </a:r>
            <a:r>
              <a:rPr lang="en-US" b="true" sz="39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NLP Module</a:t>
            </a: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: Open AI model for parsing &amp; scoring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</a:t>
            </a:r>
            <a:r>
              <a:rPr lang="en-US" b="true" sz="39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 Flow</a:t>
            </a: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: In‑memory file processing → vector store for JDs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</a:t>
            </a:r>
            <a:r>
              <a:rPr lang="en-US" b="true" sz="39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AI Innovation</a:t>
            </a: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: Role specific intelligence, feature engineering, tie breaking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DAGs-3v3FO8</dc:identifier>
  <dcterms:modified xsi:type="dcterms:W3CDTF">2011-08-01T06:04:30Z</dcterms:modified>
  <cp:revision>1</cp:revision>
  <dc:title>COMMIT OR CRY</dc:title>
</cp:coreProperties>
</file>